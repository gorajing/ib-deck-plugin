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182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C00000"/>
                </a:solidFill>
              </a:defRPr>
            </a:pPr>
            <a:r>
              <a:t>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65D"/>
                </a:solidFill>
              </a:defRPr>
            </a:pPr>
            <a:r>
              <a:t>Addus Has Delivered Consistent Revenue Growth with Expanding Profitability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20240"/>
            <a:ext cx="11277295" cy="3200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Historical Financial Summary ($ in thousands)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331720"/>
          <a:ext cx="1127729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79243"/>
                <a:gridCol w="2179243"/>
                <a:gridCol w="2179243"/>
                <a:gridCol w="2179243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B365D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</a:defRPr>
                      </a:pPr>
                      <a:r>
                        <a:t>FY2023A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</a:defRPr>
                      </a:pPr>
                      <a:r>
                        <a:t>FY2024A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</a:defRPr>
                      </a:pPr>
                      <a:r>
                        <a:t>FY2025A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</a:defRPr>
                      </a:pPr>
                      <a:r>
                        <a:t>3Y CAGR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1,058,651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1,154,599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1,422,530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14.4%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i="1">
                          <a:solidFill>
                            <a:srgbClr val="666666"/>
                          </a:solidFill>
                        </a:defRPr>
                      </a:pPr>
                      <a:r>
                        <a:t>  %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</a:defRPr>
                      </a:pPr>
                      <a:r>
                        <a:t>11.3%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</a:defRPr>
                      </a:pPr>
                      <a:r>
                        <a:t>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</a:defRPr>
                      </a:pP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Gross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339,876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375,021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461,874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16.6%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i="1">
                          <a:solidFill>
                            <a:srgbClr val="666666"/>
                          </a:solidFill>
                        </a:defRPr>
                      </a:pPr>
                      <a:r>
                        <a:t>  %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</a:defRPr>
                      </a:pPr>
                      <a:r>
                        <a:t>32.1%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</a:defRPr>
                      </a:pPr>
                      <a:r>
                        <a:t>32.5%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</a:defRPr>
                      </a:pPr>
                      <a:r>
                        <a:t>32.5%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</a:defRPr>
                      </a:pP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B365D"/>
                          </a:solidFill>
                        </a:defRPr>
                      </a:pPr>
                      <a:r>
                        <a:t>EBITDA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</a:defRPr>
                      </a:pPr>
                      <a:r>
                        <a:t>105,082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</a:defRPr>
                      </a:pPr>
                      <a:r>
                        <a:t>116,221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</a:defRPr>
                      </a:pPr>
                      <a:r>
                        <a:t>155,027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B365D"/>
                          </a:solidFill>
                        </a:defRPr>
                      </a:pPr>
                      <a:r>
                        <a:t>21.4%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i="1">
                          <a:solidFill>
                            <a:srgbClr val="666666"/>
                          </a:solidFill>
                        </a:defRPr>
                      </a:pPr>
                      <a:r>
                        <a:t>  %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</a:defRPr>
                      </a:pPr>
                      <a:r>
                        <a:t>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</a:defRPr>
                      </a:pPr>
                      <a:r>
                        <a:t>10.1%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</a:defRPr>
                      </a:pPr>
                      <a:r>
                        <a:t>10.9%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i="1">
                          <a:solidFill>
                            <a:srgbClr val="666666"/>
                          </a:solidFill>
                        </a:defRPr>
                      </a:pP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Net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62,516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73,598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95,910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/>
                      </a:pPr>
                      <a:r>
                        <a:t>23.8%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Diluted 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$3.83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$4.23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$5.22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16.7%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66666"/>
                </a:solidFill>
              </a:defRPr>
            </a:pPr>
            <a:r>
              <a:t>Source: SEC EDGAR. ADUS FY2025 10-K filed February 24,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